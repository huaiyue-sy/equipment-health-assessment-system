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577840" y="1463040"/>
            <a:ext cx="1097280" cy="109728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4200">
                <a:solidFill>
                  <a:srgbClr val="FFFFFF"/>
                </a:solidFill>
              </a:defRPr>
            </a:pPr>
            <a:r>
              <a:t>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iHealthSim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</a:defRPr>
            </a:pPr>
            <a:r>
              <a:t>工业设备健康状态评估系统</a:t>
            </a:r>
            <a:br/>
            <a:r>
              <a:t>全仿真 · 完整链路 · 实时看板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版本 0.2.0  ·  2026-05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项目概述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多模型 + 报警引擎 + ECharts 趋势 + 完整数据链路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项目定位与核心价值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面向 IIoT / PdM / EHM 的完整技术链路验证原型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3035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零硬件依赖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所有设备数据由物理仿真引擎生成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覆盖 6 种工况循环、渐进退化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故障注入、瞬态尖峰等真实场景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无需连接真实 PLC/传感器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71600"/>
            <a:ext cx="53035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完整数据链路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仿真 → MQTT 传输 → 采集落盘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→ 特征工程 → 决策树训练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→ 在线打分 → SSE 推送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→ Web 实时看板展示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57600"/>
            <a:ext cx="53035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可审计预测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决策树输出完整决策路径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从根节点到叶节点逐步解释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前端渲染为诊断依据时间线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非黑盒模型，安全可信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657600"/>
            <a:ext cx="53035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工业级可扩展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标准 MQTT 消息格式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无缝替换为真实设备数据源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Pipeline 架构支持 sklearn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模型热替换 (Tree/XGB/LGB)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943600"/>
            <a:ext cx="2377440" cy="3200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A73E8"/>
                </a:solidFill>
              </a:defRPr>
            </a:pPr>
            <a:r>
              <a:t>IIoT 原型验证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5943600"/>
            <a:ext cx="2377440" cy="3200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65F46"/>
                </a:solidFill>
              </a:defRPr>
            </a:pPr>
            <a:r>
              <a:t>预测性维护 PdM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5943600"/>
            <a:ext cx="237744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92400E"/>
                </a:solidFill>
              </a:defRPr>
            </a:pPr>
            <a:r>
              <a:t>设备健康管理 EHM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5943600"/>
            <a:ext cx="2377440" cy="32004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B21B6"/>
                </a:solidFill>
              </a:defRPr>
            </a:pPr>
            <a:r>
              <a:t>工业大数据/ML教学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系统架构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三层架构：仿真设备层 → MQTT 传输层 → 计算 + 展示层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系统架构全景图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三层解耦：设备仿真 → MQTT 消息中间件 → 后端计算 + 前端展示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0" y="1188720"/>
            <a:ext cx="4846320" cy="50292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B5CF6"/>
                </a:solidFill>
              </a:defRPr>
            </a:pPr>
            <a:r>
              <a:t>Vue 3 前端 :5173   Login / Dashboard /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16916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</a:defRPr>
            </a:pPr>
            <a:r>
              <a:t>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965960"/>
            <a:ext cx="9418320" cy="1143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965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73E8"/>
                </a:solidFill>
              </a:defRPr>
            </a:pPr>
            <a:r>
              <a:t>Flask 后端 :5000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331720"/>
            <a:ext cx="1188720" cy="5943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334155"/>
                </a:solidFill>
              </a:defRPr>
            </a:pPr>
            <a:r>
              <a:t>REST 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331720"/>
            <a:ext cx="1188720" cy="59436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334155"/>
                </a:solidFill>
              </a:defRPr>
            </a:pPr>
            <a:r>
              <a:t>SSE 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331720"/>
            <a:ext cx="1188720" cy="5943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334155"/>
                </a:solidFill>
              </a:defRPr>
            </a:pPr>
            <a:r>
              <a:t>MQTT Sub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331720"/>
            <a:ext cx="1188720" cy="5943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334155"/>
                </a:solidFill>
              </a:defRPr>
            </a:pPr>
            <a:r>
              <a:t>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331720"/>
            <a:ext cx="1188720" cy="59436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334155"/>
                </a:solidFill>
              </a:defRPr>
            </a:pPr>
            <a:r>
              <a:t>Scorer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2331720"/>
            <a:ext cx="1188720" cy="59436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F9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334155"/>
                </a:solidFill>
              </a:defRPr>
            </a:pPr>
            <a:r>
              <a:t>Auth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3108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</a:defRPr>
            </a:pPr>
            <a:r>
              <a:t>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</a:defRPr>
            </a:pPr>
            <a:r>
              <a:t>subscribe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3337560"/>
            <a:ext cx="5760720" cy="5486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65F46"/>
                </a:solidFill>
              </a:defRPr>
            </a:pPr>
            <a:r>
              <a:t>EMQX Broker :1883   topic: telemetry/raw/#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8862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</a:defRPr>
            </a:pPr>
            <a:r>
              <a:t>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886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</a:defRPr>
            </a:pPr>
            <a:r>
              <a:t>publish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4114800"/>
            <a:ext cx="4846320" cy="5486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A73E8"/>
                </a:solidFill>
              </a:defRPr>
            </a:pPr>
            <a:r>
              <a:t>仿真设备 × 3    PUMP-001  ~  PUMP-003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029200"/>
            <a:ext cx="10698480" cy="10972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5029200"/>
            <a:ext cx="54864" cy="10972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74920"/>
            <a:ext cx="1037844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2400E"/>
                </a:solidFill>
              </a:defRPr>
            </a:pPr>
            <a:r>
              <a:t>架构原则</a:t>
            </a:r>
            <a:br/>
            <a:r>
              <a:t>设备不感知消费者，后端不感知发布者。通过 EMQX 解耦，单台设备可被 N 个后端同时消费；替换真实设备时只需发布相同格式的 JSON 到相同 topic。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数据流详解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从仿真器 step() 一个方法调用到前端看板实时刷新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t>1   DeviceSimulator.step() 更新健康度、计算 6 个遥测点位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470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t>2   封装 TelemetryPoint → JSON → MQTT publish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2257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t>3   EMQX Broker 路由到所有 subscriber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9806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t>4   MqttSubscriber 解析 JSON → InMemoryState.ingest()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735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t>5   SSEHub.push("telemetry") → 前端实时刷新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490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t>6   ScorerWorker 滑动窗口触发 pipeline.predict()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2452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t>7   去抖确认 → HealthResult → SSEHub.push("prediction")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371600"/>
            <a:ext cx="4846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关键技术点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以 temp_c 点位作为窗口触发器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去抖逻辑：恶化 3 次确认，恢复 5 次确认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SSE 基于 HTTP，浏览器原生断线重连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Thread-safe：ScorerWorker 锁保护模型推理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窗口级打分，每窗口只触发一次推理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3474720"/>
            <a:ext cx="484632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bIns="109728"/>
          <a:lstStyle/>
          <a:p>
            <a:pPr algn="ctr">
              <a:spcAft>
                <a:spcPts val="100"/>
              </a:spcAft>
              <a:defRPr sz="1000">
                <a:solidFill>
                  <a:srgbClr val="E2E8F0"/>
                </a:solidFill>
                <a:latin typeface="Courier New"/>
              </a:defRPr>
            </a:pPr>
            <a:r>
              <a:t># MQTT 消息格式（JSON）</a:t>
            </a:r>
            <a:br/>
            <a:r>
              <a:t>{</a:t>
            </a:r>
            <a:br/>
            <a:r>
              <a:t>  "ts_ms": 1710000000000,</a:t>
            </a:r>
            <a:br/>
            <a:r>
              <a:t>  "asset_id": "PUMP-001",</a:t>
            </a:r>
            <a:br/>
            <a:r>
              <a:t>  "point": "temp_c",</a:t>
            </a:r>
            <a:br/>
            <a:r>
              <a:t>  "value": 55.2,</a:t>
            </a:r>
            <a:br/>
            <a:r>
              <a:t>  "quality": "good"</a:t>
            </a:r>
            <a:br/>
            <a: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核心模块详解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仿真引擎 · 特征工程 · 决策树 · 在线打分 · 去抖迟滞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设备仿真器 + 特征工程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物理驱动的渐进退化仿真模型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30352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仿真模型 (DeviceSimulator)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latent_health [0→1] 潜在健康度变量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基础退化: degradation/hr + 高斯噪声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故障注入: 3× 加速退化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随机恢复: 5%/s 概率微恢复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6 工况循环: 1500-2900 RPM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环境温度正弦漂移 ±3°C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传感器噪声随恶化 ×3 扩大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瞬态尖峰 0.05%/s 概率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80160"/>
            <a:ext cx="530352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特征工程流水线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① long → wide pivot 透视为宽表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② 60s 滑动窗口划分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③ 基础统计: mean/std/min/max/p95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④ 趋势特征: 线性回归斜率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⑤ Δ 特征: 与上一窗口差值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⑥ 工况归一化振动: vib/(rpm/1000)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⑦ 标签: 窗口内最大 health_level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→ 输出: data/features.csv (~30 列特征)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</a:defRPr>
            </a:pPr>
            <a:r>
              <a:t>遥测点位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4114800"/>
          <a:ext cx="694944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645920"/>
                <a:gridCol w="164592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点位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含义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正常范围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恶化趋势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rpm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转速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1500-2900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基准恒定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负载比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0.1-1.0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基准恒定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vib_rms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振动 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~1.2-3.5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↑ 显著上升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temp_c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温度 (°C)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~35-65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↑ 上升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motor_current_a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电机电流 (A)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~10-40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↑ 上升</a:t>
                      </a:r>
                    </a:p>
                  </a:txBody>
                  <a:tcPr/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label_health_level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健康标签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0-3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训练用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模型训练 + 在线打分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scikit-learn Pipeline + 去抖迟滞逻辑 · 多模型可选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3035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训练 Pipeline（3 种模型可选）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ColumnTransformer(SimpleImputer(median))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        ↓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--model tree → DecisionTreeClassifier(max_depth=5, balanced)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--model xgb  → XGBClassifier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--model lgb  → LGBMClassifier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时间序列分割: 按窗口时间顺序切分，避免数据泄露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feature_stats: 训练后按健康等级计算均值/std 存入模型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53035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8 个在线特征 (feature_set=online)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rpm_mean  |  load_mean  |  vib_rms_mean  |  temp_c_mean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motor_current_a_mean  |  vib_rms_std  |  temp_c_std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vib_rms_norm (= vib_rms / (rpm/1000))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280160"/>
            <a:ext cx="53035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OnlineScorer 工作流程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① 按 asset_id 缓冲遥测点队列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② temp_c 触发 60s 窗口边界判定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③ 提取窗口数据 → 计算 8 个实时特征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④ pipeline.predict() + predict_proba()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⑤ 去抖确认 → HealthResult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⑥ Tree: 遍历决策路径 / XGB/LGB: z-score 偏差诊断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291840"/>
            <a:ext cx="5303520" cy="22860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3375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2400E"/>
                </a:solidFill>
              </a:defRPr>
            </a:pPr>
            <a:r>
              <a:t>去抖配置 (DebounceConfig)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3657600"/>
          <a:ext cx="484632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731520"/>
                <a:gridCol w="274320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参数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含义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raise_n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连续 3 次确认等级上升（快速报警）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recover_n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连续 5 次确认等级恢复（谨慎解除）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abnormal_level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等级 ≥2 被视为异常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583680" y="4800600"/>
            <a:ext cx="4937760" cy="5943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4846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2400E"/>
                </a:solidFill>
              </a:defRPr>
            </a:pPr>
            <a:r>
              <a:t>工业语义：报警需快速响应，解除需谨慎验证</a:t>
            </a:r>
            <a:br/>
            <a:r>
              <a:t>宁可多等，不误解除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多模型解释对比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同一预测结果，三种模型提供不同深度的诊断依据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3035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303520" cy="457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5F46"/>
                </a:solidFill>
              </a:defRPr>
            </a:pPr>
            <a:r>
              <a:t>决策树 — 完整决策路径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493776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bIns="109728"/>
          <a:lstStyle/>
          <a:p>
            <a:pPr algn="ctr">
              <a:spcAft>
                <a:spcPts val="100"/>
              </a:spcAft>
              <a:defRPr sz="1000">
                <a:solidFill>
                  <a:srgbClr val="E2E8F0"/>
                </a:solidFill>
                <a:latin typeface="Courier New"/>
              </a:defRPr>
            </a:pPr>
            <a:r>
              <a:t>vib_rms_mean &gt; 2.351 (val=3.142) →</a:t>
            </a:r>
            <a:br/>
            <a:r>
              <a:t>temp_c_mean &lt;= 55.200 (val=52.100) →</a:t>
            </a:r>
            <a:br/>
            <a:r>
              <a:t>vib_rms_norm &gt; 1.890 (val=2.410) →</a:t>
            </a:r>
            <a:br/>
            <a:r>
              <a:t>→ Lv2 (警告)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每步可审计，从根节点到叶节点逐步判定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280160"/>
            <a:ext cx="53035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280160"/>
            <a:ext cx="5303520" cy="4572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40AF"/>
                </a:solidFill>
              </a:defRPr>
            </a:pPr>
            <a:r>
              <a:t>XGBoost/LightGBM — 基线偏差诊断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737360"/>
            <a:ext cx="493776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bIns="109728"/>
          <a:lstStyle/>
          <a:p>
            <a:pPr algn="ctr">
              <a:spcAft>
                <a:spcPts val="100"/>
              </a:spcAft>
              <a:defRPr sz="1000">
                <a:solidFill>
                  <a:srgbClr val="E2E8F0"/>
                </a:solidFill>
                <a:latin typeface="Courier New"/>
              </a:defRPr>
            </a:pPr>
            <a:r>
              <a:t>vib_rms_mean&gt;偏高↑(val=4.52, z=+3.1, imp=0.28) →</a:t>
            </a:r>
            <a:br/>
            <a:r>
              <a:t>temp_c_mean&gt;略高(val=72.3, z=+1.5, imp=0.19) →</a:t>
            </a:r>
            <a:br/>
            <a:r>
              <a:t>→ Lv2 (警告)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0632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与 Lv0 健康基线对比，z-score 判定偏离程度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66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</a:defRPr>
            </a:pPr>
            <a:r>
              <a:t>z-score 偏离判定标准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31920"/>
            <a:ext cx="2560320" cy="11887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65F46"/>
                </a:solidFill>
              </a:defRPr>
            </a:pPr>
            <a:r>
              <a:t>|z| ≤ 1.0</a:t>
            </a:r>
          </a:p>
          <a:p>
            <a:pPr algn="ctr">
              <a:defRPr sz="1100">
                <a:solidFill>
                  <a:srgbClr val="065F46"/>
                </a:solidFill>
              </a:defRPr>
            </a:pPr>
            <a:r>
              <a:t>正常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3931920"/>
            <a:ext cx="2560320" cy="11887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92400E"/>
                </a:solidFill>
              </a:defRPr>
            </a:pPr>
            <a:r>
              <a:t>1.0 &lt; |z| ≤ 2.0</a:t>
            </a:r>
          </a:p>
          <a:p>
            <a:pPr algn="ctr">
              <a:defRPr sz="1100">
                <a:solidFill>
                  <a:srgbClr val="92400E"/>
                </a:solidFill>
              </a:defRPr>
            </a:pPr>
            <a:r>
              <a:t>略高/略低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931920"/>
            <a:ext cx="2560320" cy="11887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991B1B"/>
                </a:solidFill>
              </a:defRPr>
            </a:pPr>
            <a:r>
              <a:t>|z| &gt; 2.0</a:t>
            </a:r>
          </a:p>
          <a:p>
            <a:pPr algn="ctr">
              <a:defRPr sz="1100">
                <a:solidFill>
                  <a:srgbClr val="991B1B"/>
                </a:solidFill>
              </a:defRPr>
            </a:pPr>
            <a:r>
              <a:t>偏高↑/偏低↓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3931920"/>
            <a:ext cx="2560320" cy="11887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4748B"/>
                </a:solidFill>
              </a:defRPr>
            </a:pPr>
            <a:r>
              <a:t>Lv0~3 均值/std 存入模型</a:t>
            </a:r>
          </a:p>
          <a:p>
            <a:pPr algn="ctr">
              <a:defRPr sz="1100">
                <a:solidFill>
                  <a:srgbClr val="64748B"/>
                </a:solidFill>
              </a:defRPr>
            </a:pPr>
            <a:r>
              <a:t>训练时自动计算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94960"/>
            <a:ext cx="10698480" cy="7315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5394960"/>
            <a:ext cx="54864" cy="7315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40680"/>
            <a:ext cx="10378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2400E"/>
                </a:solidFill>
              </a:defRPr>
            </a:pPr>
            <a:r>
              <a:t>模型无关的通用诊断接口</a:t>
            </a:r>
            <a:br/>
            <a:r>
              <a:t>不同模型类型通过统一 API 输出解释结果，前端 DiagnosticsTimeline 组件自适应渲染不同格式。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报警规则引擎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阈值 + 趋势 + 组合 — 11 条默认规则，基于 ISO 10816 振动标准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383280" cy="457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2400E"/>
                </a:solidFill>
              </a:defRPr>
            </a:pPr>
            <a:r>
              <a:t>阈值规则 (7 条)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27632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vib_rms · temp_c · motor_current · rpm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1874519"/>
          <a:ext cx="29260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97280"/>
                <a:gridCol w="82296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点位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条件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级别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vib_rms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&gt; 4.5 mm/s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warning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vib_rms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&gt; 7.1 mm/s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critical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temp_c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&gt; 85°C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warning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temp_c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&gt; 105°C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critical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motor_current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&gt; 12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warning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motor_current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&gt; 15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critical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rpm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&lt; 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warning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297680" y="1280160"/>
            <a:ext cx="338328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280160"/>
            <a:ext cx="3383280" cy="4572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3716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40AF"/>
                </a:solidFill>
              </a:defRPr>
            </a:pPr>
            <a:r>
              <a:t>趋势规则 (2 条)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27632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5 窗口滑动判定 · 每个 asset 独立缓冲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965960"/>
            <a:ext cx="301752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01168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</a:defRPr>
            </a:pPr>
            <a:r>
              <a:t>振动持续上升</a:t>
            </a:r>
            <a:br/>
            <a:r>
              <a:t>5 窗口内 vib_rms 上升 &gt;10%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2880360"/>
            <a:ext cx="301752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292608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</a:defRPr>
            </a:pPr>
            <a:r>
              <a:t>温度持续上升</a:t>
            </a:r>
            <a:br/>
            <a:r>
              <a:t>5 窗口内 temp_c 上升 &gt;5%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280160"/>
            <a:ext cx="3566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863840" y="1280160"/>
            <a:ext cx="3566160" cy="4572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371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91B1B"/>
                </a:solidFill>
              </a:defRPr>
            </a:pPr>
            <a:r>
              <a:t>组合规则 (2 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162763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AND 逻辑 · 多条件同时满足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965960"/>
            <a:ext cx="3200400" cy="77724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01168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</a:defRPr>
            </a:pPr>
            <a:r>
              <a:t>高温+高振动 → critical</a:t>
            </a:r>
            <a:br/>
            <a:r>
              <a:t>temp_c&gt;75 AND vib_rms&gt;3.5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880360"/>
            <a:ext cx="3200400" cy="77724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292608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</a:defRPr>
            </a:pPr>
            <a:r>
              <a:t>高温+大电流 → critical</a:t>
            </a:r>
            <a:br/>
            <a:r>
              <a:t>temp_c&gt;80 AND current&gt;10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389120"/>
            <a:ext cx="10698480" cy="146304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1520" y="4389120"/>
            <a:ext cx="54864" cy="1463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434840"/>
            <a:ext cx="10378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2400E"/>
                </a:solidFill>
              </a:defRPr>
            </a:pPr>
            <a:r>
              <a:t>设计原则与扩展</a:t>
            </a:r>
            <a:br/>
            <a:r>
              <a:t>• 每条规则独立评估 → 在线打分后立即运行 → 报警通过 SSE (alarm 事件) 实时推送前端 → 60s 后自动清除</a:t>
            </a:r>
            <a:br/>
            <a:r>
              <a:t>• 规则基于 ISO 10816 / ISO 13374 / IEEE 841 等工业标准</a:t>
            </a:r>
            <a:br/>
            <a:r>
              <a:t>• 所有规则通过 AlarmEngine.add_*() 可扩展，不区分模型类型，统一接口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后端与前端的协作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Flask + SSE + Vue 3 + ECharts 实时看板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后端模块 + 前端看板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7 个后端模块 · 4 个前端页面 · 实时事件驱动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3035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Flask 主应用 (app.py)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启动时自动初始化 MQTT 订阅器、状态管理、SSE 中心、打分器；并拉起 3 台仿真设备后台进程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80160"/>
            <a:ext cx="53035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认证授权 (auth.py)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JWT HS256 认证 + 角色管理 (admin/operator) + 设备级 ACL 权限控制，默认 admin/admin123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53035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SSE 事件中心 (sse.py)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发布-订阅模式，多客户端并发，自动丢弃慢消费者过期消息，4 类事件: telemetry/prediction/alarm/flow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468880"/>
            <a:ext cx="53035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MQTT 订阅器 + State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paho-mqtt 异步 loop，解析 JSON → TelemetryPoint → State + SSE + Scorer 三路分发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</a:defRPr>
            </a:pPr>
            <a:r>
              <a:t>前端路由设计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4114800"/>
          <a:ext cx="38404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09728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路径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组件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认证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/login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Login.vue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Guest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/register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Register.vue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Guest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/dashboard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Dashboard.vue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Token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/admin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Admin.vue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</a:defRPr>
                      </a:pPr>
                      <a:r>
                        <a:t>Admin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0" y="384048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Dashboard 核心页面功能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状态指示条：MQTT / 模型 / 数据延迟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设备标签栏：多设备切换 + 健康等级徽章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健康分数环形图 + 四级概率分布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诊断依据时间线 (多模型格式兼容)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ECharts 趋势图：健康分数+等级变化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报警面板：颜色区分严重度, 自动清除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实时遥测表 + 事件日志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• 「恶化重演」：一键重启完整退化过程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关键技术决策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为什么选择这些技术栈？每个选择背后都有明确的工业场景考量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设计决策与理由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每个技术选择背后都有明确的工业场景考量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3035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303520" cy="4572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8988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为什么支持多模型？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Tree 提供完整决策路径(可审计)；XGBoost/LightGBM 精度更高；非树模型通过 Lv0 基线偏差诊断实现可解释性；--model 一键切换，Pipeline 架构共用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280160"/>
            <a:ext cx="53035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280160"/>
            <a:ext cx="5303520" cy="457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38988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为什么用 MQTT 而非 HTTP？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78308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IIoT 事实标准：发布/订阅解耦设备与消费者；QoS 消息保证；二进制协议带宽低；与 EMQX/HiveMQ/AWS IoT 生态兼容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926080"/>
            <a:ext cx="53035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926080"/>
            <a:ext cx="5303520" cy="457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3580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为什么用 SSE 而非 WebSocket？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2900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前端只需单向接收推送；SSE 基于 HTTP 无需协议升级；浏览器原生断线重连；实现复杂度远低于 WebSocket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926080"/>
            <a:ext cx="53035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926080"/>
            <a:ext cx="5303520" cy="4572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03580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为什么需要去抖迟滞？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42900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传感器噪声和瞬态工况导致等级边界抖动；上升快速确认（3次），恢复慢速确认（5次），符合工业"报警容易解除难"需求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572000"/>
            <a:ext cx="53035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4572000"/>
            <a:ext cx="5303520" cy="4572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68172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为什么用时间序列分割？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074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避免随机切分导致未来信息泄露到训练集，使评估结果更接近真实在线部署场景，每个 asset 独立切分保证评估严谨性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572000"/>
            <a:ext cx="53035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0" y="4572000"/>
            <a:ext cx="5303520" cy="4572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468172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为什么 feature_set=online？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5074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训练时只用在线打分可实时计算的特征列，避免大量离线特征被中位数填充成常数，导致预测结果长期不变化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6309360"/>
            <a:ext cx="10698480" cy="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1520" y="6309360"/>
            <a:ext cx="54864" cy="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6355080"/>
            <a:ext cx="10378440" cy="-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2400E"/>
                </a:solidFill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731520" y="6309360"/>
            <a:ext cx="1069848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2400E"/>
                </a:solidFill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部署与扩展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一键启动 · Docker 部署 · 接入真实设备 · 模型替换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部署方案 + 扩展指南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从开发到生产，从仿真到真实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3035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一键启动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$ bash start.sh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启动后访问: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  前端 http://localhost:5173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  后端 http://localhost:5000</a:t>
            </a:r>
          </a:p>
          <a:p>
            <a:pPr>
              <a:spcAft>
                <a:spcPts val="200"/>
              </a:spcAft>
              <a:defRPr sz="1000">
                <a:solidFill>
                  <a:srgbClr val="64748B"/>
                </a:solidFill>
              </a:defRPr>
            </a:pPr>
            <a:r>
              <a:t>  账号 admin / admin123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80160"/>
            <a:ext cx="53035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bIns="109728"/>
          <a:lstStyle/>
          <a:p>
            <a:pPr algn="ctr">
              <a:spcAft>
                <a:spcPts val="100"/>
              </a:spcAft>
              <a:defRPr sz="1000">
                <a:solidFill>
                  <a:srgbClr val="E2E8F0"/>
                </a:solidFill>
                <a:latin typeface="Courier New"/>
              </a:defRPr>
            </a:pPr>
            <a:r>
              <a:t># Docker Compose</a:t>
            </a:r>
            <a:br/>
            <a:r>
              <a:t>services:</a:t>
            </a:r>
            <a:br/>
            <a:r>
              <a:t>  emqx:   image: emqx/emqx</a:t>
            </a:r>
            <a:br/>
            <a:r>
              <a:t>  mysql:  image: mysql:8</a:t>
            </a:r>
            <a:br/>
            <a:r>
              <a:t>  backend:  build: .</a:t>
            </a:r>
            <a:br/>
            <a:r>
              <a:t>  frontend: build: ./frontend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53035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接入真实设备 — 零代码改动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只需确保 MQTT 消息格式一致：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{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  "ts_ms": 1710000000000,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  "asset_id": "REAL-PUMP-001",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  "point": "temp_c", "value": 55.2,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  "quality": "good"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系统自动接收 → 存储 → 打分 → 推送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926080"/>
            <a:ext cx="53035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扩展方向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✅ v0.2.0 已完成: XGBoost/LightGBM 可选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   ECharts 历史趋势 · 报警规则引擎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   z-score 偏差诊断 · 多模型解释对比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🔧 替换模型: sklearn 兼容分类器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📊 增加点位: step()→features.py→train.py→Dashboard.vue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</a:defRPr>
            </a:pPr>
            <a:r>
              <a:t>📈 未来: 更多设备类型 · Docker · WebSocket · i18n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</a:defRPr>
            </a:pPr>
            <a:r>
              <a:t>技术栈总览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项目依赖全景图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Python 核心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numpy + pandas 数据处理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scikit-learn 决策树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XGBoost + LightGBM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joblib 模型持久化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rich CLI 美化输出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12801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网络与通信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EMQX MQTT Broker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paho-mqtt 客户端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Flask REST API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SSE 事件推送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0" y="12801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37160" bIns="91440"/>
          <a:lstStyle/>
          <a:p>
            <a:pPr algn="ctr">
              <a:spcAft>
                <a:spcPts val="600"/>
              </a:spcAft>
              <a:defRPr sz="1400" b="1">
                <a:solidFill>
                  <a:srgbClr val="0F172A"/>
                </a:solidFill>
              </a:defRPr>
            </a:pPr>
            <a:r>
              <a:t>前端 + 数据库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Vue 3 + Vue Router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ECharts 趋势图表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Vite 构建工具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MySQL 用户/事件存储</a:t>
            </a:r>
          </a:p>
          <a:p>
            <a:pPr>
              <a:spcAft>
                <a:spcPts val="200"/>
              </a:spcAft>
              <a:defRPr sz="1100">
                <a:solidFill>
                  <a:srgbClr val="64748B"/>
                </a:solidFill>
              </a:defRPr>
            </a:pPr>
            <a:r>
              <a:t>• JWT (PyJWT) 认证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</a:defRPr>
            </a:pPr>
            <a:r>
              <a:t>项目规模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25603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73E8"/>
                </a:solidFill>
              </a:defRPr>
            </a:pPr>
            <a:r>
              <a:t>12+</a:t>
            </a:r>
          </a:p>
          <a:p>
            <a:pPr algn="ctr">
              <a:defRPr sz="1100">
                <a:solidFill>
                  <a:srgbClr val="64748B"/>
                </a:solidFill>
              </a:defRPr>
            </a:pPr>
            <a:r>
              <a:t>CLI 子命令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4206240"/>
            <a:ext cx="25603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0B981"/>
                </a:solidFill>
              </a:defRPr>
            </a:pPr>
            <a:r>
              <a:t>10+</a:t>
            </a:r>
          </a:p>
          <a:p>
            <a:pPr algn="ctr">
              <a:defRPr sz="1100">
                <a:solidFill>
                  <a:srgbClr val="64748B"/>
                </a:solidFill>
              </a:defRPr>
            </a:pPr>
            <a:r>
              <a:t>REST API 端点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206240"/>
            <a:ext cx="25603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8B5CF6"/>
                </a:solidFill>
              </a:defRPr>
            </a:pPr>
            <a:r>
              <a:t>8</a:t>
            </a:r>
          </a:p>
          <a:p>
            <a:pPr algn="ctr">
              <a:defRPr sz="1100">
                <a:solidFill>
                  <a:srgbClr val="64748B"/>
                </a:solidFill>
              </a:defRPr>
            </a:pPr>
            <a:r>
              <a:t>后端模块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4206240"/>
            <a:ext cx="25603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59E0B"/>
                </a:solidFill>
              </a:defRPr>
            </a:pPr>
            <a:r>
              <a:t>4</a:t>
            </a:r>
          </a:p>
          <a:p>
            <a:pPr algn="ctr">
              <a:defRPr sz="1100">
                <a:solidFill>
                  <a:srgbClr val="64748B"/>
                </a:solidFill>
              </a:defRPr>
            </a:pPr>
            <a:r>
              <a:t>前端页面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394960" y="1645920"/>
            <a:ext cx="1371600" cy="137160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800">
                <a:solidFill>
                  <a:srgbClr val="1A73E8"/>
                </a:solidFill>
              </a:defRPr>
            </a:pPr>
            <a:r>
              <a:t>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918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谢谢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06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iHealthSim — 工业设备健康状态评估系统</a:t>
            </a:r>
            <a:br/>
            <a:r>
              <a:t>多模型 · 报警引擎 · 趋势图表 · 完整链路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详细文档: doc/ARCHITECTURE.md  |  一键启动: bash start.sh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</a:defRPr>
            </a:pPr>
            <a: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