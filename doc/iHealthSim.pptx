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BE154-6BB9-D44C-9111-6AA3FF5780FC}" v="2" dt="2026-05-25T05:54:4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03" d="100"/>
          <a:sy n="103" d="100"/>
        </p:scale>
        <p:origin x="200" y="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577840" y="1463040"/>
            <a:ext cx="1097280" cy="1097280"/>
          </a:xfrm>
          <a:prstGeom prst="ellipse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4200">
                <a:solidFill>
                  <a:srgbClr val="FFFFFF"/>
                </a:solidFill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iHealthSim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</a:defRPr>
            </a:pPr>
            <a:r>
              <a:t>工业设备健康状态评估系统</a:t>
            </a:r>
            <a:br/>
            <a:r>
              <a:t>全仿真 · 完整链路 · 实时看板</a:t>
            </a:r>
            <a:endParaRPr lang="en-US"/>
          </a:p>
          <a:p>
            <a:pPr algn="ctr">
              <a:defRPr sz="2000" b="0">
                <a:solidFill>
                  <a:srgbClr val="64748B"/>
                </a:solidFill>
              </a:defRPr>
            </a:pPr>
            <a:r>
              <a:rPr lang="zh-CN" altLang="en-US"/>
              <a:t>互联</a:t>
            </a:r>
            <a:r>
              <a:rPr lang="en-US" altLang="zh-CN"/>
              <a:t>2313</a:t>
            </a:r>
            <a:r>
              <a:rPr lang="zh-CN" altLang="en-US"/>
              <a:t> 组别</a:t>
            </a:r>
            <a:r>
              <a:rPr lang="en-US" altLang="zh-CN"/>
              <a:t>2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</a:defRPr>
            </a:pPr>
            <a:r>
              <a:t>版本 0.1.0  ·  2025-05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基于仿真设备 + MQTT + 决策树 + Vue 前端的</a:t>
            </a:r>
            <a:br/>
            <a:r>
              <a:t>工业设备健康评估原型系统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项目定位与核心价值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面向 IIoT / PdM / EHM 的完整技术链路验证原型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零硬件依赖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所有设备数据由物理仿真引擎生成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覆盖 6 种工况循环、渐进退化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故障注入、瞬态尖峰等真实场景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无需连接真实 PLC/传感器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完整数据链路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仿真 → MQTT 传输 → 采集落盘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→ 特征工程 → 决策树训练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→ 在线打分 → SSE 推送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→ Web 实时看板展示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可审计预测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决策树输出完整决策路径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从根节点到叶节点逐步解释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前端渲染为诊断依据时间线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非黑盒模型，安全可信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65760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500" b="1">
                <a:solidFill>
                  <a:srgbClr val="0F172A"/>
                </a:solidFill>
              </a:defRPr>
            </a:pPr>
            <a:r>
              <a:t>工业级可扩展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标准 MQTT 消息格式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无缝替换为真实设备数据源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Pipeline 架构支持 sklearn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模型热替换，即插即用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43600"/>
            <a:ext cx="2377440" cy="3200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A73E8"/>
                </a:solidFill>
              </a:defRPr>
            </a:pPr>
            <a:r>
              <a:t>IIoT 原型验证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5943600"/>
            <a:ext cx="2377440" cy="3200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5F46"/>
                </a:solidFill>
              </a:defRPr>
            </a:pPr>
            <a:r>
              <a:t>预测性维护 PdM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5943600"/>
            <a:ext cx="2377440" cy="3200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92400E"/>
                </a:solidFill>
              </a:defRPr>
            </a:pPr>
            <a:r>
              <a:t>设备健康管理 EHM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系统架构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三层架构：仿真设备层 → MQTT 传输层 → 计算 + 展示层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系统架构全景图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三层解耦：设备仿真 → MQTT 消息中间件 → 后端计算 + 前端展示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188720"/>
            <a:ext cx="4846320" cy="5029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B5CF6"/>
                </a:solidFill>
              </a:defRPr>
            </a:pPr>
            <a:r>
              <a:t>Vue 3 前端 :5173   Login / Dashboard /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0" y="1691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965960"/>
            <a:ext cx="941832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73E8"/>
                </a:solidFill>
              </a:defRPr>
            </a:pPr>
            <a:r>
              <a:t>Flask 后端 :5000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331720"/>
            <a:ext cx="1188720" cy="5943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4155"/>
                </a:solidFill>
              </a:defRPr>
            </a:pPr>
            <a:r>
              <a:t>REST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331720"/>
            <a:ext cx="1188720" cy="59436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4155"/>
                </a:solidFill>
              </a:defRPr>
            </a:pPr>
            <a:r>
              <a:t>SSE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331720"/>
            <a:ext cx="1188720" cy="5943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4155"/>
                </a:solidFill>
              </a:defRPr>
            </a:pPr>
            <a:r>
              <a:t>MQTT Sub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31720"/>
            <a:ext cx="1188720" cy="5943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4155"/>
                </a:solidFill>
              </a:defRPr>
            </a:pPr>
            <a:r>
              <a:t>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331720"/>
            <a:ext cx="1188720" cy="59436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4155"/>
                </a:solidFill>
              </a:defRPr>
            </a:pPr>
            <a:r>
              <a:t>Scorer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1188720" cy="59436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F9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4155"/>
                </a:solidFill>
              </a:defRPr>
            </a:pPr>
            <a:r>
              <a:t>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subscribe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337560"/>
            <a:ext cx="5760720" cy="5486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65F46"/>
                </a:solidFill>
              </a:defRPr>
            </a:pPr>
            <a:r>
              <a:t>EMQX Broker :1883   topic: telemetry/raw/#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886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</a:defRPr>
            </a:pPr>
            <a:r>
              <a:t>publish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114800"/>
            <a:ext cx="4846320" cy="54864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A73E8"/>
                </a:solidFill>
              </a:defRPr>
            </a:pPr>
            <a:r>
              <a:t>仿真设备 × 3    PUMP-001  ~  PUMP-003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698480" cy="10972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73152" cy="10972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2400E"/>
                </a:solidFill>
              </a:defRPr>
            </a:pPr>
            <a:r>
              <a:t>架构原则</a:t>
            </a:r>
            <a:br/>
            <a:r>
              <a:t>设备不感知消费者，后端不感知发布者。通过 EMQX 解耦，单台设备可被 N 个后端同时消费；替换真实设备时只需发布相同格式的 JSON 到相同 topic。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数据流详解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从仿真器 step() 一个方法调用到前端看板实时刷新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1   DeviceSimulator.step() 更新健康度、计算 6 个遥测点位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470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2   封装 TelemetryPoint → JSON → MQTT publish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225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3   EMQX Broker 路由到所有 subscriber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9806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4   MqttSubscriber 解析 JSON → InMemoryState.ingest()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73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5   SSEHub.push("telemetry") → 前端实时刷新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6   ScorerWorker 滑动窗口触发 pipeline.predict()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2452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7   去抖确认 → HealthResult → SSEHub.push("prediction")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371600"/>
            <a:ext cx="48463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关键技术点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以 temp_c 点位作为窗口触发器，每窗口只打分一次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去抖逻辑：恶化连续 3 次确认，恢复连续 5 次确认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SSE 基于 HTTP，浏览器原生支持断线重连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Thread-safe：ScorerWorker 使用锁保护模型推理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474720"/>
            <a:ext cx="48463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bIns="109728" rtlCol="0" anchor="ctr"/>
          <a:lstStyle/>
          <a:p>
            <a:pPr algn="ctr"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# MQTT 消息格式（JSON）</a:t>
            </a:r>
            <a:br/>
            <a:r>
              <a:t>{</a:t>
            </a:r>
            <a:br/>
            <a:r>
              <a:t>  "ts_ms": 1710000000000,</a:t>
            </a:r>
            <a:br/>
            <a:r>
              <a:t>  "asset_id": "PUMP-001",</a:t>
            </a:r>
            <a:br/>
            <a:r>
              <a:t>  "point": "temp_c",</a:t>
            </a:r>
            <a:br/>
            <a:r>
              <a:t>  "value": 55.2,</a:t>
            </a:r>
            <a:br/>
            <a:r>
              <a:t>  "quality": "good"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核心模块详解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仿真引擎 · 特征工程 · 决策树 · 在线打分 · 去抖迟滞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设备仿真器 + 特征工程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物理驱动的渐进退化仿真模型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仿真模型 (DeviceSimulator)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latent_health [0→1] 潜在健康度变量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基础退化: degradation/hr + 高斯噪声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故障注入: 3× 加速退化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随机恢复: 5%/s 概率微恢复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6 工况循环: 1500-2900 RPM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环境温度正弦漂移 ±3°C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传感器噪声随恶化 ×3 扩大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瞬态尖峰 0.05%/s 概率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特征工程流水线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① long → wide pivot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② 60s 滑动窗口划分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③ 基础统计: mean/std/min/max/p95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④ 趋势特征: 线性回归斜率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⑤ Δ 特征: 与上一窗口差值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⑥ 工况归一化振动: vib/(rpm/1000)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⑦ 标签: 窗口内最大 health_level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输出: data/features.csv (~30 列特征 + 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遥测点位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147219"/>
              </p:ext>
            </p:extLst>
          </p:nvPr>
        </p:nvGraphicFramePr>
        <p:xfrm>
          <a:off x="731520" y="3840481"/>
          <a:ext cx="6373614" cy="2194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7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9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35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点位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正常范围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恶化趋势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转速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1500-2900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基准恒定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负载比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0.1-1.0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基准恒定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vib_rms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振动 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~1.2-3.5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↑ 显著上升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temp_c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温度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~35-65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↑ 上升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50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motor_current_a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电机电流 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~10-40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↑ 上升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3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label_health_level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健康标签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训练用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27555" y="366501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健康等级定义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341932"/>
              </p:ext>
            </p:extLst>
          </p:nvPr>
        </p:nvGraphicFramePr>
        <p:xfrm>
          <a:off x="7401697" y="4206240"/>
          <a:ext cx="4572000" cy="1763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6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等级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latent_health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Lv0 健康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≥ 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🟢 正常运转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Lv1 注意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0.60~0.80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🟡 关注趋势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Lv2 警告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0.40~0.60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🔴 明显异常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6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Lv3 危险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&lt; 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🟣 停机检查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模型训练 + 在线打分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scikit-learn Pipeline + 去抖迟滞逻辑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39"/>
            <a:ext cx="53035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训练 Pipeline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ColumnTransformer(SimpleImputer(median))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        ↓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DecisionTreeClassifier(max_depth=5, min_leaf=50, balanced)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时间序列分割: 按窗口时间顺序切分，避免数据泄露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feature_set=online: 只用 OnlineScorer 可实时计算的特征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6280" y="4013473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8 个在线特征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rpm_mean  |  load_mean  |  vib_rms_mean  |  temp_c_mean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motor_current_a_mean  |  vib_rms_std  |  temp_c_std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vib_rms_norm (= vib_rms / (rpm/1000))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OnlineScorer 工作流程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① 按 asset_id 缓冲遥测点队列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② temp_c 触发 60s 窗口边界判定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③ 提取窗口数据 → 计算 8 个实时特征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④ pipeline.predict() + predict_proba()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⑤ 去抖确认 → HealthResult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⑥ 遍历决策树生成可读解释路径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91839"/>
            <a:ext cx="5303520" cy="2540549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3337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2400E"/>
                </a:solidFill>
              </a:defRPr>
            </a:pPr>
            <a:r>
              <a:t>去抖配置 (DebounceConfig)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3657600"/>
          <a:ext cx="48463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raise_n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连续 3 次确认等级上升（快速报警）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recover_n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连续 5 次确认等级恢复（谨慎解除）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abnormal_level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等级 ≥2 被视为异常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37960" y="4983480"/>
            <a:ext cx="4937760" cy="6400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2400E"/>
                </a:solidFill>
              </a:defRPr>
            </a:pPr>
            <a:r>
              <a:t>工业语义：报警需快速响应，解除需谨慎验证 —— 宁可多等，不误解除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后端与前端的协作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Flask + SSE + Vue 3 实时看板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后端模块 + 前端看板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7 个后端模块 · 4 个前端页面 · 实时事件驱动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Flask 主应用 (app.py)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启动时自动初始化 MQTT 订阅器、状态管理、SSE 中心、打分器；并拉起 3 台仿真设备后台进程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认证授权 (auth.py)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JWT HS256 认证 + 角色管理 (admin/operator) + 设备级 ACL 权限控制，默认 admin/admin123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SSE 事件中心 (sse.py)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发布-订阅模式，多客户端并发，自动丢弃慢消费者过期消息，3 类事件: telemetry/prediction/flow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6888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MQTT 订阅器 + State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paho-mqtt 异步 loop，解析 JSON → TelemetryPoint → State + SSE + Scorer 三路分发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前端路由设计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114800"/>
          <a:ext cx="3840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认证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Login.vue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/register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Register.vue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Guest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/dashboard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Dashboard.vue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/admin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Admin.vue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0" y="384048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0F172A"/>
                </a:solidFill>
              </a:defRPr>
            </a:pPr>
            <a:r>
              <a:t>Dashboard 核心页面功能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状态指示条：MQTT / 模型 / 数据状态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设备标签栏：多设备切换 + 健康等级徽章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健康分数环形图 + 四级概率分布柱状图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诊断依据时间线（决策路径可视化）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实时遥测表 + 事件日志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诊断报告：设备概览/异常指标/维护建议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「恶化重演」：一键重启完整退化过程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关键技术决策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为什么选择这些技术栈？每个选择背后都有明确的工业场景考量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设计决策与理由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每个技术选择背后都有明确的工业场景考量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4572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为什么用决策树而非深度学习？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可解释性强：输出完整决策路径，非黑盒；数据量（千-万级窗口）决策树足够；单个 joblib 文件部署，无需 GPU，推理毫秒级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303520" cy="45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3898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为什么用 MQTT 而非 HTTP？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IIoT 事实标准：发布/订阅解耦设备与消费者；QoS 消息保证；二进制协议带宽低；与 EMQX/HiveMQ/AWS IoT 生态兼容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303520" cy="45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358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为什么用 SSE 而非 WebSocket？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前端只需单向接收推送；SSE 基于 HTTP 无需协议升级；浏览器原生断线重连；实现复杂度远低于 WebSocket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00800" y="2926080"/>
            <a:ext cx="5303520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30358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为什么需要去抖迟滞？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4290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传感器噪声和瞬态工况会导致等级边界抖动；上升快速确认（3次），恢复慢速确认（5次），符合工业"报警易·解除难"需求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530352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81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为什么用时间序列分割？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避免随机切分导致未来信息泄露到训练集，使评估结果更接近真实在线部署场景，每个 asset 独立切分保证评估严谨性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57200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0" y="4572000"/>
            <a:ext cx="5303520" cy="457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681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为什么 feature_set=online？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训练时只使用在线可实时计算的特征列，避免大量离线特征被中位数填充成常数，导致预测结果长期不变化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309360"/>
            <a:ext cx="10698480" cy="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部署与扩展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一键启动 · Docker 部署 · 接入真实设备 · 模型替换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部署方案 + 扩展指南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从开发到生产，从仿真到真实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1327116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bIns="109728" rtlCol="0" anchor="ctr"/>
          <a:lstStyle/>
          <a:p>
            <a:pPr algn="ctr"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# 一键启动</a:t>
            </a:r>
            <a:br/>
            <a:r>
              <a:t>bash start.sh</a:t>
            </a:r>
            <a:br/>
            <a:r>
              <a:t># 前端 http://localhost:5173</a:t>
            </a:r>
            <a:br/>
            <a:r>
              <a:t># 后端 http://localhost:5000</a:t>
            </a:r>
            <a:br/>
            <a:r>
              <a:t># 账号 admin / admin123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30352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bIns="109728" rtlCol="0" anchor="ctr"/>
          <a:lstStyle/>
          <a:p>
            <a:pPr algn="ctr">
              <a:spcAft>
                <a:spcPts val="100"/>
              </a:spcAft>
              <a:defRPr sz="1000">
                <a:solidFill>
                  <a:srgbClr val="E2E8F0"/>
                </a:solidFill>
                <a:latin typeface="Courier New"/>
              </a:defRPr>
            </a:pPr>
            <a:r>
              <a:t># Docker Compose</a:t>
            </a:r>
            <a:br/>
            <a:r>
              <a:t>services:</a:t>
            </a:r>
            <a:br/>
            <a:r>
              <a:t>  emqx:   image: emqx/emqx</a:t>
            </a:r>
            <a:br/>
            <a:r>
              <a:t>  mysql:  image: mysql:8</a:t>
            </a:r>
            <a:br/>
            <a:r>
              <a:t>          environment:</a:t>
            </a:r>
            <a:br/>
            <a:r>
              <a:t>            MYSQL_ROOT_PASSWORD: root</a:t>
            </a:r>
            <a:br/>
            <a:r>
              <a:t>            MYSQL_DATABASE: ihealthsim</a:t>
            </a:r>
            <a:br/>
            <a:r>
              <a:t>  backend:  build: .</a:t>
            </a:r>
            <a:br/>
            <a:r>
              <a:t>  frontend: build: ./frontend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接入真实设备 — 零代码改动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只需确保 MQTT 消息格式一致：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{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  "ts_ms": 1710000000000,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  "asset_id": "REAL-PUMP-001",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  "point": "temp_c", "value": 55.2,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  "quality": "good"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系统自动接收 → 存储 → 打分 → 推送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47472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扩展方向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🔧 替换模型：任何 sklearn 兼容分类器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  → 修改 train.py + 对齐 ONLINE_FEATURE_COLS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📊 增加点位：四点对齐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  → step() → features.py → train.py → Dashboard.vue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📈 未来规划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  → XGBoost/LightGBM · ECharts 历史趋势</a:t>
            </a:r>
          </a:p>
          <a:p>
            <a:pPr>
              <a:spcAft>
                <a:spcPts val="200"/>
              </a:spcAft>
              <a:defRPr sz="900">
                <a:solidFill>
                  <a:srgbClr val="64748B"/>
                </a:solidFill>
              </a:defRPr>
            </a:pPr>
            <a:r>
              <a:t>  → 报警规则引擎 · Docker 一键部署 · i18n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技术栈总览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项目依赖全景图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980450" cy="16916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Python 核心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numpy + pandas 数据处理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scikit-learn 决策树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joblib 模型持久化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rich CLI 美化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280160"/>
            <a:ext cx="2980450" cy="16916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网络与通信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EMQX MQTT Broker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paho-mqtt 客户端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Flask REST API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SSE 事件推送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280160"/>
            <a:ext cx="2980450" cy="169164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37160" bIns="9144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F172A"/>
                </a:solidFill>
              </a:defRPr>
            </a:pPr>
            <a:r>
              <a:t>前端 + 数据库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Vue 3 + Vue Router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Vite 构建工具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MySQL 用户/事件存储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</a:defRPr>
            </a:pPr>
            <a:r>
              <a:t>• JWT (PyJWT) 认证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775" y="2971801"/>
            <a:ext cx="34775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项目规模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775" y="3337561"/>
            <a:ext cx="1947425" cy="7142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1A73E8"/>
                </a:solidFill>
              </a:defRPr>
            </a:pPr>
            <a:r>
              <a:t>12+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CLI 子命令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415" y="3337561"/>
            <a:ext cx="1947425" cy="7142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10+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REST API 端点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5055" y="3337561"/>
            <a:ext cx="1947425" cy="7142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8B5CF6"/>
                </a:solidFill>
              </a:defRPr>
            </a:pPr>
            <a:r>
              <a:t>7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后端模块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9695" y="3337561"/>
            <a:ext cx="1947425" cy="71422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4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前端页面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648" y="416555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关键依赖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28023"/>
              </p:ext>
            </p:extLst>
          </p:nvPr>
        </p:nvGraphicFramePr>
        <p:xfrm>
          <a:off x="641728" y="4463262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Node.js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≥2.0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3.x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≥2.2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vue-router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4.x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≥1.5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5.x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flask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≥3.0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paho-mqtt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≥2.1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56132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5394960" y="1645920"/>
            <a:ext cx="1371600" cy="13716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>
                <a:solidFill>
                  <a:srgbClr val="1A73E8"/>
                </a:solidFill>
              </a:defRPr>
            </a:pPr>
            <a:r>
              <a:t>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iHealthSim — 工业设备健康状态评估系统</a:t>
            </a:r>
            <a:br/>
            <a:r>
              <a:t>从仿真到实时看板的完整链路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1389</Words>
  <Application>Microsoft Macintosh PowerPoint</Application>
  <PresentationFormat>宽屏</PresentationFormat>
  <Paragraphs>311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uuu H</cp:lastModifiedBy>
  <cp:revision>3</cp:revision>
  <dcterms:created xsi:type="dcterms:W3CDTF">2013-01-27T09:14:16Z</dcterms:created>
  <dcterms:modified xsi:type="dcterms:W3CDTF">2026-05-25T06:01:07Z</dcterms:modified>
  <cp:category/>
</cp:coreProperties>
</file>